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ntserrat Bold" panose="020B0604020202020204" charset="0"/>
      <p:regular r:id="rId13"/>
    </p:embeddedFont>
    <p:embeddedFont>
      <p:font typeface="Montserrat Light" panose="00000400000000000000" pitchFamily="2" charset="0"/>
      <p:regular r:id="rId14"/>
    </p:embeddedFont>
    <p:embeddedFont>
      <p:font typeface="Source Sans 3" panose="020B0604020202020204" charset="0"/>
      <p:regular r:id="rId15"/>
    </p:embeddedFont>
    <p:embeddedFont>
      <p:font typeface="Source Sans 3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5" name="Freeform 5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79744" y="1252833"/>
            <a:ext cx="3854501" cy="555127"/>
            <a:chOff x="0" y="0"/>
            <a:chExt cx="5139334" cy="7401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39436" cy="740156"/>
            </a:xfrm>
            <a:custGeom>
              <a:avLst/>
              <a:gdLst/>
              <a:ahLst/>
              <a:cxnLst/>
              <a:rect l="l" t="t" r="r" b="b"/>
              <a:pathLst>
                <a:path w="5139436" h="740156">
                  <a:moveTo>
                    <a:pt x="0" y="49403"/>
                  </a:moveTo>
                  <a:cubicBezTo>
                    <a:pt x="0" y="22098"/>
                    <a:pt x="22098" y="0"/>
                    <a:pt x="49403" y="0"/>
                  </a:cubicBezTo>
                  <a:lnTo>
                    <a:pt x="5090033" y="0"/>
                  </a:lnTo>
                  <a:cubicBezTo>
                    <a:pt x="5117338" y="0"/>
                    <a:pt x="5139436" y="22098"/>
                    <a:pt x="5139436" y="49403"/>
                  </a:cubicBezTo>
                  <a:lnTo>
                    <a:pt x="5139436" y="690753"/>
                  </a:lnTo>
                  <a:cubicBezTo>
                    <a:pt x="5139436" y="718058"/>
                    <a:pt x="5117338" y="740156"/>
                    <a:pt x="5090033" y="740156"/>
                  </a:cubicBezTo>
                  <a:lnTo>
                    <a:pt x="49403" y="740156"/>
                  </a:lnTo>
                  <a:cubicBezTo>
                    <a:pt x="22098" y="740156"/>
                    <a:pt x="0" y="718058"/>
                    <a:pt x="0" y="690753"/>
                  </a:cubicBezTo>
                  <a:close/>
                </a:path>
              </a:pathLst>
            </a:custGeom>
            <a:solidFill>
              <a:srgbClr val="E4E4E7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64739" y="1288104"/>
            <a:ext cx="4398912" cy="427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HACKATHON 2024 · DATA SCIENCE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744" y="1902771"/>
            <a:ext cx="7926591" cy="90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IPLytics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9744" y="3242072"/>
            <a:ext cx="9270502" cy="486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84"/>
              </a:lnSpc>
            </a:pPr>
            <a:r>
              <a:rPr lang="en-US" sz="7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Decoding Match-Winning Patterns in IPL Using Data Science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9744" y="8495262"/>
            <a:ext cx="10184902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Python · Pandas · Plotly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679979" y="735654"/>
            <a:ext cx="1453163" cy="420443"/>
            <a:chOff x="0" y="0"/>
            <a:chExt cx="1937550" cy="5605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37639" cy="560705"/>
            </a:xfrm>
            <a:custGeom>
              <a:avLst/>
              <a:gdLst/>
              <a:ahLst/>
              <a:cxnLst/>
              <a:rect l="l" t="t" r="r" b="b"/>
              <a:pathLst>
                <a:path w="1937639" h="560705">
                  <a:moveTo>
                    <a:pt x="0" y="38735"/>
                  </a:moveTo>
                  <a:cubicBezTo>
                    <a:pt x="0" y="17272"/>
                    <a:pt x="17272" y="0"/>
                    <a:pt x="38735" y="0"/>
                  </a:cubicBezTo>
                  <a:lnTo>
                    <a:pt x="1898904" y="0"/>
                  </a:lnTo>
                  <a:cubicBezTo>
                    <a:pt x="1920240" y="0"/>
                    <a:pt x="1937639" y="17272"/>
                    <a:pt x="1937639" y="38735"/>
                  </a:cubicBezTo>
                  <a:lnTo>
                    <a:pt x="1937639" y="521970"/>
                  </a:lnTo>
                  <a:cubicBezTo>
                    <a:pt x="1937639" y="543306"/>
                    <a:pt x="1920367" y="560705"/>
                    <a:pt x="1898904" y="560705"/>
                  </a:cubicBezTo>
                  <a:lnTo>
                    <a:pt x="38735" y="560705"/>
                  </a:lnTo>
                  <a:cubicBezTo>
                    <a:pt x="17272" y="560578"/>
                    <a:pt x="0" y="543306"/>
                    <a:pt x="0" y="52197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341" r="4" b="-17321"/>
              </a:stretch>
            </a:blipFill>
            <a:ln w="9526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7835951" y="801738"/>
            <a:ext cx="2055609" cy="26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84741" y="1204617"/>
            <a:ext cx="9776517" cy="1360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Data Is There — The Insights Are Not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84741" y="2836659"/>
            <a:ext cx="9776517" cy="1541859"/>
            <a:chOff x="0" y="0"/>
            <a:chExt cx="13035356" cy="20558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35407" cy="2055876"/>
            </a:xfrm>
            <a:custGeom>
              <a:avLst/>
              <a:gdLst/>
              <a:ahLst/>
              <a:cxnLst/>
              <a:rect l="l" t="t" r="r" b="b"/>
              <a:pathLst>
                <a:path w="13035407" h="2055876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12988163" y="0"/>
                  </a:lnTo>
                  <a:cubicBezTo>
                    <a:pt x="13014198" y="0"/>
                    <a:pt x="13035407" y="21209"/>
                    <a:pt x="13035407" y="47244"/>
                  </a:cubicBezTo>
                  <a:lnTo>
                    <a:pt x="13035407" y="2008632"/>
                  </a:lnTo>
                  <a:cubicBezTo>
                    <a:pt x="13035407" y="2034667"/>
                    <a:pt x="13014198" y="2055876"/>
                    <a:pt x="12988163" y="2055876"/>
                  </a:cubicBezTo>
                  <a:lnTo>
                    <a:pt x="47244" y="2055876"/>
                  </a:lnTo>
                  <a:cubicBezTo>
                    <a:pt x="21209" y="2055876"/>
                    <a:pt x="0" y="2034667"/>
                    <a:pt x="0" y="200863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7920933" y="3063326"/>
            <a:ext cx="2684259" cy="34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Overload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20933" y="3497904"/>
            <a:ext cx="9304144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IPL generates thousands of data points per season, yet most remain unexplored and unactionable.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684741" y="4559351"/>
            <a:ext cx="9776517" cy="1541859"/>
            <a:chOff x="0" y="0"/>
            <a:chExt cx="13035356" cy="20558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035407" cy="2055876"/>
            </a:xfrm>
            <a:custGeom>
              <a:avLst/>
              <a:gdLst/>
              <a:ahLst/>
              <a:cxnLst/>
              <a:rect l="l" t="t" r="r" b="b"/>
              <a:pathLst>
                <a:path w="13035407" h="2055876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12988163" y="0"/>
                  </a:lnTo>
                  <a:cubicBezTo>
                    <a:pt x="13014198" y="0"/>
                    <a:pt x="13035407" y="21209"/>
                    <a:pt x="13035407" y="47244"/>
                  </a:cubicBezTo>
                  <a:lnTo>
                    <a:pt x="13035407" y="2008632"/>
                  </a:lnTo>
                  <a:cubicBezTo>
                    <a:pt x="13035407" y="2034667"/>
                    <a:pt x="13014198" y="2055876"/>
                    <a:pt x="12988163" y="2055876"/>
                  </a:cubicBezTo>
                  <a:lnTo>
                    <a:pt x="47244" y="2055876"/>
                  </a:lnTo>
                  <a:cubicBezTo>
                    <a:pt x="21209" y="2055876"/>
                    <a:pt x="0" y="2034667"/>
                    <a:pt x="0" y="200863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7920933" y="4786017"/>
            <a:ext cx="2684259" cy="34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Hidden Patterns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20933" y="5220595"/>
            <a:ext cx="9304144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Match-winning signals — phase dominance, momentum shifts, venue behavior — are buried in raw statistics.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684741" y="6282033"/>
            <a:ext cx="9776517" cy="1541859"/>
            <a:chOff x="0" y="0"/>
            <a:chExt cx="13035356" cy="20558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035407" cy="2055876"/>
            </a:xfrm>
            <a:custGeom>
              <a:avLst/>
              <a:gdLst/>
              <a:ahLst/>
              <a:cxnLst/>
              <a:rect l="l" t="t" r="r" b="b"/>
              <a:pathLst>
                <a:path w="13035407" h="2055876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12988163" y="0"/>
                  </a:lnTo>
                  <a:cubicBezTo>
                    <a:pt x="13014198" y="0"/>
                    <a:pt x="13035407" y="21209"/>
                    <a:pt x="13035407" y="47244"/>
                  </a:cubicBezTo>
                  <a:lnTo>
                    <a:pt x="13035407" y="2008632"/>
                  </a:lnTo>
                  <a:cubicBezTo>
                    <a:pt x="13035407" y="2034667"/>
                    <a:pt x="13014198" y="2055876"/>
                    <a:pt x="12988163" y="2055876"/>
                  </a:cubicBezTo>
                  <a:lnTo>
                    <a:pt x="47244" y="2055876"/>
                  </a:lnTo>
                  <a:cubicBezTo>
                    <a:pt x="21209" y="2055876"/>
                    <a:pt x="0" y="2034667"/>
                    <a:pt x="0" y="200863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7920933" y="6508699"/>
            <a:ext cx="2684259" cy="34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Outdated Metrics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20933" y="6943277"/>
            <a:ext cx="9304144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Traditional cricket statistics fail to capture the nuanced, phase-wise dynamics that truly decide outcomes.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684741" y="8004724"/>
            <a:ext cx="9776517" cy="1541859"/>
            <a:chOff x="0" y="0"/>
            <a:chExt cx="13035356" cy="20558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035407" cy="2055876"/>
            </a:xfrm>
            <a:custGeom>
              <a:avLst/>
              <a:gdLst/>
              <a:ahLst/>
              <a:cxnLst/>
              <a:rect l="l" t="t" r="r" b="b"/>
              <a:pathLst>
                <a:path w="13035407" h="2055876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12988163" y="0"/>
                  </a:lnTo>
                  <a:cubicBezTo>
                    <a:pt x="13014198" y="0"/>
                    <a:pt x="13035407" y="21209"/>
                    <a:pt x="13035407" y="47244"/>
                  </a:cubicBezTo>
                  <a:lnTo>
                    <a:pt x="13035407" y="2008632"/>
                  </a:lnTo>
                  <a:cubicBezTo>
                    <a:pt x="13035407" y="2034667"/>
                    <a:pt x="13014198" y="2055876"/>
                    <a:pt x="12988163" y="2055876"/>
                  </a:cubicBezTo>
                  <a:lnTo>
                    <a:pt x="47244" y="2055876"/>
                  </a:lnTo>
                  <a:cubicBezTo>
                    <a:pt x="21209" y="2055876"/>
                    <a:pt x="0" y="2034667"/>
                    <a:pt x="0" y="200863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7920933" y="8231381"/>
            <a:ext cx="2684259" cy="34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Gap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20933" y="8665959"/>
            <a:ext cx="9304144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Teams, analysts, and fans lack an intelligent, interactive platform to translate data into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74379" y="731491"/>
            <a:ext cx="1515818" cy="472383"/>
            <a:chOff x="0" y="0"/>
            <a:chExt cx="2021091" cy="6298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21078" cy="629920"/>
            </a:xfrm>
            <a:custGeom>
              <a:avLst/>
              <a:gdLst/>
              <a:ahLst/>
              <a:cxnLst/>
              <a:rect l="l" t="t" r="r" b="b"/>
              <a:pathLst>
                <a:path w="2021078" h="629920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1978533" y="0"/>
                  </a:lnTo>
                  <a:cubicBezTo>
                    <a:pt x="2002028" y="0"/>
                    <a:pt x="2021078" y="19050"/>
                    <a:pt x="2021078" y="42545"/>
                  </a:cubicBezTo>
                  <a:lnTo>
                    <a:pt x="2021078" y="587375"/>
                  </a:lnTo>
                  <a:cubicBezTo>
                    <a:pt x="2021078" y="610870"/>
                    <a:pt x="2002028" y="629920"/>
                    <a:pt x="1978533" y="629920"/>
                  </a:cubicBezTo>
                  <a:lnTo>
                    <a:pt x="42545" y="629920"/>
                  </a:lnTo>
                  <a:cubicBezTo>
                    <a:pt x="19050" y="629793"/>
                    <a:pt x="0" y="610870"/>
                    <a:pt x="0" y="5873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23" b="-12511"/>
              </a:stretch>
            </a:blipFill>
            <a:ln w="9526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44791" y="795185"/>
            <a:ext cx="2089394" cy="316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FOUNDATION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9141" y="1267863"/>
            <a:ext cx="9578283" cy="75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&amp; Technology Stack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9141" y="2565644"/>
            <a:ext cx="38726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Data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64854" y="3177778"/>
            <a:ext cx="3842442" cy="2995022"/>
            <a:chOff x="0" y="0"/>
            <a:chExt cx="5123256" cy="39933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23307" cy="3993388"/>
            </a:xfrm>
            <a:custGeom>
              <a:avLst/>
              <a:gdLst/>
              <a:ahLst/>
              <a:cxnLst/>
              <a:rect l="l" t="t" r="r" b="b"/>
              <a:pathLst>
                <a:path w="5123307" h="3993388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4938649" y="0"/>
                  </a:lnTo>
                  <a:cubicBezTo>
                    <a:pt x="5040630" y="0"/>
                    <a:pt x="5123307" y="82677"/>
                    <a:pt x="5123307" y="184658"/>
                  </a:cubicBezTo>
                  <a:lnTo>
                    <a:pt x="5123307" y="3808730"/>
                  </a:lnTo>
                  <a:cubicBezTo>
                    <a:pt x="5123307" y="3910711"/>
                    <a:pt x="5040630" y="3993388"/>
                    <a:pt x="4938649" y="3993388"/>
                  </a:cubicBezTo>
                  <a:lnTo>
                    <a:pt x="184658" y="3993388"/>
                  </a:lnTo>
                  <a:cubicBezTo>
                    <a:pt x="82677" y="3993388"/>
                    <a:pt x="0" y="3910711"/>
                    <a:pt x="0" y="3808730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50566" y="3192066"/>
            <a:ext cx="114300" cy="2966437"/>
            <a:chOff x="0" y="0"/>
            <a:chExt cx="152400" cy="3955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" cy="3955288"/>
            </a:xfrm>
            <a:custGeom>
              <a:avLst/>
              <a:gdLst/>
              <a:ahLst/>
              <a:cxnLst/>
              <a:rect l="l" t="t" r="r" b="b"/>
              <a:pathLst>
                <a:path w="152400" h="3955288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0330" y="0"/>
                  </a:lnTo>
                  <a:cubicBezTo>
                    <a:pt x="129032" y="0"/>
                    <a:pt x="152400" y="23368"/>
                    <a:pt x="152400" y="52070"/>
                  </a:cubicBezTo>
                  <a:lnTo>
                    <a:pt x="152400" y="3903218"/>
                  </a:lnTo>
                  <a:cubicBezTo>
                    <a:pt x="152400" y="3931920"/>
                    <a:pt x="129032" y="3955288"/>
                    <a:pt x="100330" y="3955288"/>
                  </a:cubicBezTo>
                  <a:lnTo>
                    <a:pt x="52070" y="3955288"/>
                  </a:lnTo>
                  <a:cubicBezTo>
                    <a:pt x="23368" y="3955288"/>
                    <a:pt x="0" y="3931920"/>
                    <a:pt x="0" y="3903218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353741" y="3471415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matches.csv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3741" y="4032199"/>
            <a:ext cx="3150394" cy="183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Complete match records — teams, venues, toss decisions, results, and player of the match across all IPL seasons.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998244" y="3177778"/>
            <a:ext cx="3842442" cy="2995022"/>
            <a:chOff x="0" y="0"/>
            <a:chExt cx="5123256" cy="39933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23307" cy="3993388"/>
            </a:xfrm>
            <a:custGeom>
              <a:avLst/>
              <a:gdLst/>
              <a:ahLst/>
              <a:cxnLst/>
              <a:rect l="l" t="t" r="r" b="b"/>
              <a:pathLst>
                <a:path w="5123307" h="3993388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4938649" y="0"/>
                  </a:lnTo>
                  <a:cubicBezTo>
                    <a:pt x="5040630" y="0"/>
                    <a:pt x="5123307" y="82677"/>
                    <a:pt x="5123307" y="184658"/>
                  </a:cubicBezTo>
                  <a:lnTo>
                    <a:pt x="5123307" y="3808730"/>
                  </a:lnTo>
                  <a:cubicBezTo>
                    <a:pt x="5123307" y="3910711"/>
                    <a:pt x="5040630" y="3993388"/>
                    <a:pt x="4938649" y="3993388"/>
                  </a:cubicBezTo>
                  <a:lnTo>
                    <a:pt x="184658" y="3993388"/>
                  </a:lnTo>
                  <a:cubicBezTo>
                    <a:pt x="82677" y="3993388"/>
                    <a:pt x="0" y="3910711"/>
                    <a:pt x="0" y="3808730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983956" y="3192066"/>
            <a:ext cx="114300" cy="2966437"/>
            <a:chOff x="0" y="0"/>
            <a:chExt cx="152400" cy="39552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2400" cy="3955288"/>
            </a:xfrm>
            <a:custGeom>
              <a:avLst/>
              <a:gdLst/>
              <a:ahLst/>
              <a:cxnLst/>
              <a:rect l="l" t="t" r="r" b="b"/>
              <a:pathLst>
                <a:path w="152400" h="3955288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0330" y="0"/>
                  </a:lnTo>
                  <a:cubicBezTo>
                    <a:pt x="129032" y="0"/>
                    <a:pt x="152400" y="23368"/>
                    <a:pt x="152400" y="52070"/>
                  </a:cubicBezTo>
                  <a:lnTo>
                    <a:pt x="152400" y="3903218"/>
                  </a:lnTo>
                  <a:cubicBezTo>
                    <a:pt x="152400" y="3931920"/>
                    <a:pt x="129032" y="3955288"/>
                    <a:pt x="100330" y="3955288"/>
                  </a:cubicBezTo>
                  <a:lnTo>
                    <a:pt x="52070" y="3955288"/>
                  </a:lnTo>
                  <a:cubicBezTo>
                    <a:pt x="23368" y="3955288"/>
                    <a:pt x="0" y="3931920"/>
                    <a:pt x="0" y="3903218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387130" y="3471415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deliveries.csv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87130" y="4032199"/>
            <a:ext cx="3150394" cy="147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Ball-by-ball delivery data covering every over, wicket, boundary, and scoring event in IPL history.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1127" y="2565644"/>
            <a:ext cx="38726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Stack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471127" y="3192066"/>
            <a:ext cx="3813867" cy="1890865"/>
            <a:chOff x="0" y="0"/>
            <a:chExt cx="5085156" cy="252115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85207" cy="2521204"/>
            </a:xfrm>
            <a:custGeom>
              <a:avLst/>
              <a:gdLst/>
              <a:ahLst/>
              <a:cxnLst/>
              <a:rect l="l" t="t" r="r" b="b"/>
              <a:pathLst>
                <a:path w="5085207" h="2521204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5033137" y="0"/>
                  </a:lnTo>
                  <a:cubicBezTo>
                    <a:pt x="5061839" y="0"/>
                    <a:pt x="5085207" y="23368"/>
                    <a:pt x="5085207" y="52070"/>
                  </a:cubicBezTo>
                  <a:lnTo>
                    <a:pt x="5085207" y="2469134"/>
                  </a:lnTo>
                  <a:cubicBezTo>
                    <a:pt x="5085207" y="2497836"/>
                    <a:pt x="5061839" y="2521204"/>
                    <a:pt x="5033137" y="2521204"/>
                  </a:cubicBezTo>
                  <a:lnTo>
                    <a:pt x="52070" y="2521204"/>
                  </a:lnTo>
                  <a:cubicBezTo>
                    <a:pt x="23368" y="2521204"/>
                    <a:pt x="0" y="2497836"/>
                    <a:pt x="0" y="246913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731426" y="3452365"/>
            <a:ext cx="780898" cy="780898"/>
            <a:chOff x="0" y="0"/>
            <a:chExt cx="1041197" cy="104119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9946186" y="3667125"/>
            <a:ext cx="351387" cy="351387"/>
          </a:xfrm>
          <a:custGeom>
            <a:avLst/>
            <a:gdLst/>
            <a:ahLst/>
            <a:cxnLst/>
            <a:rect l="l" t="t" r="r" b="b"/>
            <a:pathLst>
              <a:path w="351387" h="351387">
                <a:moveTo>
                  <a:pt x="0" y="0"/>
                </a:moveTo>
                <a:lnTo>
                  <a:pt x="351387" y="0"/>
                </a:lnTo>
                <a:lnTo>
                  <a:pt x="351387" y="351387"/>
                </a:lnTo>
                <a:lnTo>
                  <a:pt x="0" y="351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215" b="-16215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9731426" y="4443260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504516" y="3192066"/>
            <a:ext cx="3813867" cy="1890865"/>
            <a:chOff x="0" y="0"/>
            <a:chExt cx="5085156" cy="252115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85207" cy="2521204"/>
            </a:xfrm>
            <a:custGeom>
              <a:avLst/>
              <a:gdLst/>
              <a:ahLst/>
              <a:cxnLst/>
              <a:rect l="l" t="t" r="r" b="b"/>
              <a:pathLst>
                <a:path w="5085207" h="2521204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5033137" y="0"/>
                  </a:lnTo>
                  <a:cubicBezTo>
                    <a:pt x="5061839" y="0"/>
                    <a:pt x="5085207" y="23368"/>
                    <a:pt x="5085207" y="52070"/>
                  </a:cubicBezTo>
                  <a:lnTo>
                    <a:pt x="5085207" y="2469134"/>
                  </a:lnTo>
                  <a:cubicBezTo>
                    <a:pt x="5085207" y="2497836"/>
                    <a:pt x="5061839" y="2521204"/>
                    <a:pt x="5033137" y="2521204"/>
                  </a:cubicBezTo>
                  <a:lnTo>
                    <a:pt x="52070" y="2521204"/>
                  </a:lnTo>
                  <a:cubicBezTo>
                    <a:pt x="23368" y="2521204"/>
                    <a:pt x="0" y="2497836"/>
                    <a:pt x="0" y="246913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3764816" y="3452365"/>
            <a:ext cx="780898" cy="780898"/>
            <a:chOff x="0" y="0"/>
            <a:chExt cx="1041197" cy="104119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32" name="Freeform 32" descr="preencoded.png"/>
          <p:cNvSpPr/>
          <p:nvPr/>
        </p:nvSpPr>
        <p:spPr>
          <a:xfrm>
            <a:off x="13979576" y="3667125"/>
            <a:ext cx="351387" cy="351387"/>
          </a:xfrm>
          <a:custGeom>
            <a:avLst/>
            <a:gdLst/>
            <a:ahLst/>
            <a:cxnLst/>
            <a:rect l="l" t="t" r="r" b="b"/>
            <a:pathLst>
              <a:path w="351387" h="351387">
                <a:moveTo>
                  <a:pt x="0" y="0"/>
                </a:moveTo>
                <a:lnTo>
                  <a:pt x="351387" y="0"/>
                </a:lnTo>
                <a:lnTo>
                  <a:pt x="351387" y="351387"/>
                </a:lnTo>
                <a:lnTo>
                  <a:pt x="0" y="351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405" r="-5405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3764816" y="4443260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Pandas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471127" y="5302444"/>
            <a:ext cx="3813867" cy="1890865"/>
            <a:chOff x="0" y="0"/>
            <a:chExt cx="5085156" cy="252115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085207" cy="2521204"/>
            </a:xfrm>
            <a:custGeom>
              <a:avLst/>
              <a:gdLst/>
              <a:ahLst/>
              <a:cxnLst/>
              <a:rect l="l" t="t" r="r" b="b"/>
              <a:pathLst>
                <a:path w="5085207" h="2521204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5033137" y="0"/>
                  </a:lnTo>
                  <a:cubicBezTo>
                    <a:pt x="5061839" y="0"/>
                    <a:pt x="5085207" y="23368"/>
                    <a:pt x="5085207" y="52070"/>
                  </a:cubicBezTo>
                  <a:lnTo>
                    <a:pt x="5085207" y="2469134"/>
                  </a:lnTo>
                  <a:cubicBezTo>
                    <a:pt x="5085207" y="2497836"/>
                    <a:pt x="5061839" y="2521204"/>
                    <a:pt x="5033137" y="2521204"/>
                  </a:cubicBezTo>
                  <a:lnTo>
                    <a:pt x="52070" y="2521204"/>
                  </a:lnTo>
                  <a:cubicBezTo>
                    <a:pt x="23368" y="2521204"/>
                    <a:pt x="0" y="2497836"/>
                    <a:pt x="0" y="246913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731426" y="5562752"/>
            <a:ext cx="780898" cy="780898"/>
            <a:chOff x="0" y="0"/>
            <a:chExt cx="1041197" cy="104119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38" name="Freeform 38" descr="preencoded.png"/>
          <p:cNvSpPr/>
          <p:nvPr/>
        </p:nvSpPr>
        <p:spPr>
          <a:xfrm>
            <a:off x="9946186" y="5777513"/>
            <a:ext cx="351387" cy="351387"/>
          </a:xfrm>
          <a:custGeom>
            <a:avLst/>
            <a:gdLst/>
            <a:ahLst/>
            <a:cxnLst/>
            <a:rect l="l" t="t" r="r" b="b"/>
            <a:pathLst>
              <a:path w="351387" h="351387">
                <a:moveTo>
                  <a:pt x="0" y="0"/>
                </a:moveTo>
                <a:lnTo>
                  <a:pt x="351387" y="0"/>
                </a:lnTo>
                <a:lnTo>
                  <a:pt x="351387" y="351386"/>
                </a:lnTo>
                <a:lnTo>
                  <a:pt x="0" y="351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352" r="-1349"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9731426" y="6553648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Plotly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3504516" y="5302444"/>
            <a:ext cx="3813867" cy="1890865"/>
            <a:chOff x="0" y="0"/>
            <a:chExt cx="5085156" cy="252115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085207" cy="2521204"/>
            </a:xfrm>
            <a:custGeom>
              <a:avLst/>
              <a:gdLst/>
              <a:ahLst/>
              <a:cxnLst/>
              <a:rect l="l" t="t" r="r" b="b"/>
              <a:pathLst>
                <a:path w="5085207" h="2521204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5033137" y="0"/>
                  </a:lnTo>
                  <a:cubicBezTo>
                    <a:pt x="5061839" y="0"/>
                    <a:pt x="5085207" y="23368"/>
                    <a:pt x="5085207" y="52070"/>
                  </a:cubicBezTo>
                  <a:lnTo>
                    <a:pt x="5085207" y="2469134"/>
                  </a:lnTo>
                  <a:cubicBezTo>
                    <a:pt x="5085207" y="2497836"/>
                    <a:pt x="5061839" y="2521204"/>
                    <a:pt x="5033137" y="2521204"/>
                  </a:cubicBezTo>
                  <a:lnTo>
                    <a:pt x="52070" y="2521204"/>
                  </a:lnTo>
                  <a:cubicBezTo>
                    <a:pt x="23368" y="2521204"/>
                    <a:pt x="0" y="2497836"/>
                    <a:pt x="0" y="246913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3764816" y="5562752"/>
            <a:ext cx="780898" cy="780898"/>
            <a:chOff x="0" y="0"/>
            <a:chExt cx="1041197" cy="104119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44" name="Freeform 44" descr="preencoded.png"/>
          <p:cNvSpPr/>
          <p:nvPr/>
        </p:nvSpPr>
        <p:spPr>
          <a:xfrm>
            <a:off x="13979576" y="5777513"/>
            <a:ext cx="351387" cy="351387"/>
          </a:xfrm>
          <a:custGeom>
            <a:avLst/>
            <a:gdLst/>
            <a:ahLst/>
            <a:cxnLst/>
            <a:rect l="l" t="t" r="r" b="b"/>
            <a:pathLst>
              <a:path w="351387" h="351387">
                <a:moveTo>
                  <a:pt x="0" y="0"/>
                </a:moveTo>
                <a:lnTo>
                  <a:pt x="351387" y="0"/>
                </a:lnTo>
                <a:lnTo>
                  <a:pt x="351387" y="351386"/>
                </a:lnTo>
                <a:lnTo>
                  <a:pt x="0" y="351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352" r="-1349"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3764816" y="6553648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Streamlit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71127" y="7412831"/>
            <a:ext cx="7847257" cy="1890865"/>
            <a:chOff x="0" y="0"/>
            <a:chExt cx="10463009" cy="252115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463022" cy="2521204"/>
            </a:xfrm>
            <a:custGeom>
              <a:avLst/>
              <a:gdLst/>
              <a:ahLst/>
              <a:cxnLst/>
              <a:rect l="l" t="t" r="r" b="b"/>
              <a:pathLst>
                <a:path w="10463022" h="2521204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410952" y="0"/>
                  </a:lnTo>
                  <a:cubicBezTo>
                    <a:pt x="10439654" y="0"/>
                    <a:pt x="10463022" y="23368"/>
                    <a:pt x="10463022" y="52070"/>
                  </a:cubicBezTo>
                  <a:lnTo>
                    <a:pt x="10463022" y="2469134"/>
                  </a:lnTo>
                  <a:cubicBezTo>
                    <a:pt x="10463022" y="2497836"/>
                    <a:pt x="10439654" y="2521204"/>
                    <a:pt x="10410952" y="2521204"/>
                  </a:cubicBezTo>
                  <a:lnTo>
                    <a:pt x="52070" y="2521204"/>
                  </a:lnTo>
                  <a:cubicBezTo>
                    <a:pt x="23368" y="2521204"/>
                    <a:pt x="0" y="2497836"/>
                    <a:pt x="0" y="246913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9731426" y="7673130"/>
            <a:ext cx="780898" cy="780898"/>
            <a:chOff x="0" y="0"/>
            <a:chExt cx="1041197" cy="104119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50" name="Freeform 50" descr="preencoded.png"/>
          <p:cNvSpPr/>
          <p:nvPr/>
        </p:nvSpPr>
        <p:spPr>
          <a:xfrm>
            <a:off x="9946186" y="7887891"/>
            <a:ext cx="351387" cy="351387"/>
          </a:xfrm>
          <a:custGeom>
            <a:avLst/>
            <a:gdLst/>
            <a:ahLst/>
            <a:cxnLst/>
            <a:rect l="l" t="t" r="r" b="b"/>
            <a:pathLst>
              <a:path w="351387" h="351387">
                <a:moveTo>
                  <a:pt x="0" y="0"/>
                </a:moveTo>
                <a:lnTo>
                  <a:pt x="351387" y="0"/>
                </a:lnTo>
                <a:lnTo>
                  <a:pt x="351387" y="351386"/>
                </a:lnTo>
                <a:lnTo>
                  <a:pt x="0" y="351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6215" r="-16215"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9731426" y="8664026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Jupyter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74379" y="756342"/>
            <a:ext cx="1309840" cy="472383"/>
            <a:chOff x="0" y="0"/>
            <a:chExt cx="1746453" cy="6298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4" cy="629920"/>
            </a:xfrm>
            <a:custGeom>
              <a:avLst/>
              <a:gdLst/>
              <a:ahLst/>
              <a:cxnLst/>
              <a:rect l="l" t="t" r="r" b="b"/>
              <a:pathLst>
                <a:path w="1746504" h="629920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1703959" y="0"/>
                  </a:lnTo>
                  <a:cubicBezTo>
                    <a:pt x="1727454" y="0"/>
                    <a:pt x="1746504" y="19050"/>
                    <a:pt x="1746504" y="42545"/>
                  </a:cubicBezTo>
                  <a:lnTo>
                    <a:pt x="1746504" y="587375"/>
                  </a:lnTo>
                  <a:cubicBezTo>
                    <a:pt x="1746504" y="610870"/>
                    <a:pt x="1727454" y="629920"/>
                    <a:pt x="1703959" y="629920"/>
                  </a:cubicBezTo>
                  <a:lnTo>
                    <a:pt x="42545" y="629920"/>
                  </a:lnTo>
                  <a:cubicBezTo>
                    <a:pt x="19050" y="629793"/>
                    <a:pt x="0" y="610870"/>
                    <a:pt x="0" y="5873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8" r="2" b="-4016"/>
              </a:stretch>
            </a:blipFill>
            <a:ln w="9526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44791" y="820045"/>
            <a:ext cx="1883416" cy="316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APPROACH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9141" y="1292723"/>
            <a:ext cx="8744845" cy="75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End-to-End 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9141" y="2342407"/>
            <a:ext cx="17244117" cy="39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rigorous, seven-stage pipeline transforms raw IPL data into strategic cricket intelligence — from ingestion to interactive insight.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40631" y="2987431"/>
            <a:ext cx="15806738" cy="5931398"/>
            <a:chOff x="0" y="0"/>
            <a:chExt cx="21075650" cy="7908531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21075650" cy="7908544"/>
            </a:xfrm>
            <a:custGeom>
              <a:avLst/>
              <a:gdLst/>
              <a:ahLst/>
              <a:cxnLst/>
              <a:rect l="l" t="t" r="r" b="b"/>
              <a:pathLst>
                <a:path w="21075650" h="7908544">
                  <a:moveTo>
                    <a:pt x="0" y="0"/>
                  </a:moveTo>
                  <a:lnTo>
                    <a:pt x="21075650" y="0"/>
                  </a:lnTo>
                  <a:lnTo>
                    <a:pt x="21075650" y="7908544"/>
                  </a:lnTo>
                  <a:lnTo>
                    <a:pt x="0" y="7908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" b="-7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3555113" y="7490317"/>
            <a:ext cx="2841317" cy="42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4"/>
              </a:lnSpc>
            </a:pPr>
            <a:r>
              <a:rPr lang="en-US" sz="26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07662" y="7281605"/>
            <a:ext cx="2384127" cy="844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4"/>
              </a:lnSpc>
            </a:pPr>
            <a:r>
              <a:rPr lang="en-US" sz="26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Phase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2145" y="7490317"/>
            <a:ext cx="2841327" cy="42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4"/>
              </a:lnSpc>
            </a:pPr>
            <a:r>
              <a:rPr lang="en-US" sz="26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73829" y="7490317"/>
            <a:ext cx="2841327" cy="42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4"/>
              </a:lnSpc>
            </a:pPr>
            <a:r>
              <a:rPr lang="en-US" sz="26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0200" y="7490317"/>
            <a:ext cx="2841327" cy="42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4"/>
              </a:lnSpc>
            </a:pPr>
            <a:r>
              <a:rPr lang="en-US" sz="26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9141" y="9127779"/>
            <a:ext cx="17244117" cy="39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stage builds upon the last, ensuring analytical rigor and reproducible, explainable results throughout the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30273" y="662283"/>
            <a:ext cx="1527572" cy="420443"/>
            <a:chOff x="0" y="0"/>
            <a:chExt cx="2036762" cy="5605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36826" cy="560705"/>
            </a:xfrm>
            <a:custGeom>
              <a:avLst/>
              <a:gdLst/>
              <a:ahLst/>
              <a:cxnLst/>
              <a:rect l="l" t="t" r="r" b="b"/>
              <a:pathLst>
                <a:path w="2036826" h="560705">
                  <a:moveTo>
                    <a:pt x="0" y="38735"/>
                  </a:moveTo>
                  <a:cubicBezTo>
                    <a:pt x="0" y="17272"/>
                    <a:pt x="17272" y="0"/>
                    <a:pt x="38735" y="0"/>
                  </a:cubicBezTo>
                  <a:lnTo>
                    <a:pt x="1998091" y="0"/>
                  </a:lnTo>
                  <a:cubicBezTo>
                    <a:pt x="2019427" y="0"/>
                    <a:pt x="2036826" y="17272"/>
                    <a:pt x="2036826" y="38735"/>
                  </a:cubicBezTo>
                  <a:lnTo>
                    <a:pt x="2036826" y="521970"/>
                  </a:lnTo>
                  <a:cubicBezTo>
                    <a:pt x="2036826" y="543306"/>
                    <a:pt x="2019554" y="560705"/>
                    <a:pt x="1998091" y="560705"/>
                  </a:cubicBezTo>
                  <a:lnTo>
                    <a:pt x="38735" y="560705"/>
                  </a:lnTo>
                  <a:cubicBezTo>
                    <a:pt x="17272" y="560578"/>
                    <a:pt x="0" y="543306"/>
                    <a:pt x="0" y="52197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89" r="3" b="-20769"/>
              </a:stretch>
            </a:blipFill>
            <a:ln w="9526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886245" y="728367"/>
            <a:ext cx="2130028" cy="26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CORE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5036" y="1131246"/>
            <a:ext cx="8893816" cy="689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Phase-Wise Match Analytics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35036" y="2295820"/>
            <a:ext cx="7120680" cy="7120680"/>
            <a:chOff x="0" y="0"/>
            <a:chExt cx="9494241" cy="9494241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494266" cy="9494266"/>
            </a:xfrm>
            <a:custGeom>
              <a:avLst/>
              <a:gdLst/>
              <a:ahLst/>
              <a:cxnLst/>
              <a:rect l="l" t="t" r="r" b="b"/>
              <a:pathLst>
                <a:path w="9494266" h="9494266">
                  <a:moveTo>
                    <a:pt x="0" y="0"/>
                  </a:moveTo>
                  <a:lnTo>
                    <a:pt x="9494266" y="0"/>
                  </a:lnTo>
                  <a:lnTo>
                    <a:pt x="9494266" y="9494266"/>
                  </a:lnTo>
                  <a:lnTo>
                    <a:pt x="0" y="9494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735036" y="2295820"/>
            <a:ext cx="7120680" cy="7120680"/>
            <a:chOff x="0" y="0"/>
            <a:chExt cx="9494241" cy="9494241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9494266" cy="9494266"/>
            </a:xfrm>
            <a:custGeom>
              <a:avLst/>
              <a:gdLst/>
              <a:ahLst/>
              <a:cxnLst/>
              <a:rect l="l" t="t" r="r" b="b"/>
              <a:pathLst>
                <a:path w="9494266" h="9494266">
                  <a:moveTo>
                    <a:pt x="0" y="0"/>
                  </a:moveTo>
                  <a:lnTo>
                    <a:pt x="9494266" y="0"/>
                  </a:lnTo>
                  <a:lnTo>
                    <a:pt x="9494266" y="9494266"/>
                  </a:lnTo>
                  <a:lnTo>
                    <a:pt x="0" y="9494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441504" y="3883076"/>
            <a:ext cx="3598659" cy="34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Finding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41504" y="4389987"/>
            <a:ext cx="7120680" cy="95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Middle-over consistency</a:t>
            </a: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and </a:t>
            </a:r>
            <a:r>
              <a:rPr lang="en-US" sz="1800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death-over dominance</a:t>
            </a: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are the strongest predictors of match victory — far more than powerplay performance alone.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41504" y="5550541"/>
            <a:ext cx="7120680" cy="1145829"/>
            <a:chOff x="0" y="0"/>
            <a:chExt cx="9494241" cy="15277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494265" cy="1527810"/>
            </a:xfrm>
            <a:custGeom>
              <a:avLst/>
              <a:gdLst/>
              <a:ahLst/>
              <a:cxnLst/>
              <a:rect l="l" t="t" r="r" b="b"/>
              <a:pathLst>
                <a:path w="9494265" h="1527810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9447022" y="0"/>
                  </a:lnTo>
                  <a:cubicBezTo>
                    <a:pt x="9473057" y="0"/>
                    <a:pt x="9494265" y="21209"/>
                    <a:pt x="9494265" y="47244"/>
                  </a:cubicBezTo>
                  <a:lnTo>
                    <a:pt x="9494265" y="1480566"/>
                  </a:lnTo>
                  <a:cubicBezTo>
                    <a:pt x="9494265" y="1506601"/>
                    <a:pt x="9473057" y="1527810"/>
                    <a:pt x="9447022" y="1527810"/>
                  </a:cubicBezTo>
                  <a:lnTo>
                    <a:pt x="47244" y="1527810"/>
                  </a:lnTo>
                  <a:cubicBezTo>
                    <a:pt x="21209" y="1527810"/>
                    <a:pt x="0" y="1506601"/>
                    <a:pt x="0" y="1480566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677695" y="5858027"/>
            <a:ext cx="295275" cy="236191"/>
            <a:chOff x="0" y="0"/>
            <a:chExt cx="393700" cy="314922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393700" cy="314960"/>
            </a:xfrm>
            <a:custGeom>
              <a:avLst/>
              <a:gdLst/>
              <a:ahLst/>
              <a:cxnLst/>
              <a:rect l="l" t="t" r="r" b="b"/>
              <a:pathLst>
                <a:path w="393700" h="314960">
                  <a:moveTo>
                    <a:pt x="0" y="0"/>
                  </a:moveTo>
                  <a:lnTo>
                    <a:pt x="393700" y="0"/>
                  </a:lnTo>
                  <a:lnTo>
                    <a:pt x="393700" y="314960"/>
                  </a:lnTo>
                  <a:lnTo>
                    <a:pt x="0" y="31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11" b="-395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0209162" y="5771255"/>
            <a:ext cx="6116841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Teams that accelerate in the death overs win </a:t>
            </a:r>
            <a:r>
              <a:rPr lang="en-US" sz="1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68%</a:t>
            </a:r>
            <a:r>
              <a:rPr lang="en-US" sz="18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of matches where they hold a competitive middle-over platform.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41504" y="6880774"/>
            <a:ext cx="7120680" cy="95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Phase-wise decomposition reveals that sustained momentum across all three phases — not just explosive starts — separates winners from losers.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5" name="Freeform 5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21979" y="701726"/>
            <a:ext cx="1719262" cy="420443"/>
            <a:chOff x="0" y="0"/>
            <a:chExt cx="2292350" cy="5605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2350" cy="560705"/>
            </a:xfrm>
            <a:custGeom>
              <a:avLst/>
              <a:gdLst/>
              <a:ahLst/>
              <a:cxnLst/>
              <a:rect l="l" t="t" r="r" b="b"/>
              <a:pathLst>
                <a:path w="2292350" h="560705">
                  <a:moveTo>
                    <a:pt x="0" y="38735"/>
                  </a:moveTo>
                  <a:cubicBezTo>
                    <a:pt x="0" y="17272"/>
                    <a:pt x="17272" y="0"/>
                    <a:pt x="38735" y="0"/>
                  </a:cubicBezTo>
                  <a:lnTo>
                    <a:pt x="2253615" y="0"/>
                  </a:lnTo>
                  <a:cubicBezTo>
                    <a:pt x="2274951" y="0"/>
                    <a:pt x="2292350" y="17272"/>
                    <a:pt x="2292350" y="38735"/>
                  </a:cubicBezTo>
                  <a:lnTo>
                    <a:pt x="2292350" y="521970"/>
                  </a:lnTo>
                  <a:cubicBezTo>
                    <a:pt x="2292350" y="543306"/>
                    <a:pt x="2275078" y="560705"/>
                    <a:pt x="2253615" y="560705"/>
                  </a:cubicBezTo>
                  <a:lnTo>
                    <a:pt x="38735" y="560705"/>
                  </a:lnTo>
                  <a:cubicBezTo>
                    <a:pt x="17272" y="560578"/>
                    <a:pt x="0" y="543306"/>
                    <a:pt x="0" y="521970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9671" b="-29651"/>
              </a:stretch>
            </a:blipFill>
            <a:ln w="9526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77951" y="767801"/>
            <a:ext cx="2321719" cy="26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MYTH VS. REALITY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6741" y="1170680"/>
            <a:ext cx="9776517" cy="1360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Toss Myth: Does It Really Matter?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6741" y="3044581"/>
            <a:ext cx="4775149" cy="65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6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~52%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72110" y="3944388"/>
            <a:ext cx="2684259" cy="34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Toss Win Rate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6741" y="4378966"/>
            <a:ext cx="4775149" cy="95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Marginally above random chance — toss advantage is statistically negligible over a full season.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7957" y="3044581"/>
            <a:ext cx="4775302" cy="65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6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~54%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73478" y="3944388"/>
            <a:ext cx="2684259" cy="34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Match Win Rate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27957" y="4378966"/>
            <a:ext cx="4775302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Teams winning the toss win only slightly more matches — far below the perceived advantage.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27349" y="5939580"/>
            <a:ext cx="4775149" cy="65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6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~68%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52773" y="6839398"/>
            <a:ext cx="2724150" cy="34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Momentum Impact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27349" y="7273976"/>
            <a:ext cx="4775149" cy="95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Phase-wise momentum and death-over execution are far stronger victory indicators than toss outcome.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26741" y="8434540"/>
            <a:ext cx="9776517" cy="1145829"/>
            <a:chOff x="0" y="0"/>
            <a:chExt cx="13035356" cy="15277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035407" cy="1527810"/>
            </a:xfrm>
            <a:custGeom>
              <a:avLst/>
              <a:gdLst/>
              <a:ahLst/>
              <a:cxnLst/>
              <a:rect l="l" t="t" r="r" b="b"/>
              <a:pathLst>
                <a:path w="13035407" h="1527810">
                  <a:moveTo>
                    <a:pt x="0" y="47244"/>
                  </a:moveTo>
                  <a:cubicBezTo>
                    <a:pt x="0" y="21209"/>
                    <a:pt x="21209" y="0"/>
                    <a:pt x="47244" y="0"/>
                  </a:cubicBezTo>
                  <a:lnTo>
                    <a:pt x="12988163" y="0"/>
                  </a:lnTo>
                  <a:cubicBezTo>
                    <a:pt x="13014198" y="0"/>
                    <a:pt x="13035407" y="21209"/>
                    <a:pt x="13035407" y="47244"/>
                  </a:cubicBezTo>
                  <a:lnTo>
                    <a:pt x="13035407" y="1480566"/>
                  </a:lnTo>
                  <a:cubicBezTo>
                    <a:pt x="13035407" y="1506601"/>
                    <a:pt x="13014198" y="1527810"/>
                    <a:pt x="12988163" y="1527810"/>
                  </a:cubicBezTo>
                  <a:lnTo>
                    <a:pt x="47244" y="1527810"/>
                  </a:lnTo>
                  <a:cubicBezTo>
                    <a:pt x="21209" y="1527810"/>
                    <a:pt x="0" y="1506601"/>
                    <a:pt x="0" y="1480566"/>
                  </a:cubicBezTo>
                  <a:close/>
                </a:path>
              </a:pathLst>
            </a:custGeom>
            <a:solidFill>
              <a:srgbClr val="D6D7DC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062933" y="8742016"/>
            <a:ext cx="295275" cy="236191"/>
            <a:chOff x="0" y="0"/>
            <a:chExt cx="393700" cy="314922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393700" cy="314960"/>
            </a:xfrm>
            <a:custGeom>
              <a:avLst/>
              <a:gdLst/>
              <a:ahLst/>
              <a:cxnLst/>
              <a:rect l="l" t="t" r="r" b="b"/>
              <a:pathLst>
                <a:path w="393700" h="314960">
                  <a:moveTo>
                    <a:pt x="0" y="0"/>
                  </a:moveTo>
                  <a:lnTo>
                    <a:pt x="393700" y="0"/>
                  </a:lnTo>
                  <a:lnTo>
                    <a:pt x="393700" y="314960"/>
                  </a:lnTo>
                  <a:lnTo>
                    <a:pt x="0" y="31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11" b="-395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594399" y="8655244"/>
            <a:ext cx="8772677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Conclusion:</a:t>
            </a:r>
            <a:r>
              <a:rPr lang="en-US" sz="18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Momentum and execution matter significantly more than toss advantage. The "toss factor" is largely a cognitive bias in cricket commentary.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74982" y="1772993"/>
            <a:ext cx="2591543" cy="583702"/>
            <a:chOff x="0" y="0"/>
            <a:chExt cx="3455391" cy="7782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55416" cy="778256"/>
            </a:xfrm>
            <a:custGeom>
              <a:avLst/>
              <a:gdLst/>
              <a:ahLst/>
              <a:cxnLst/>
              <a:rect l="l" t="t" r="r" b="b"/>
              <a:pathLst>
                <a:path w="3455416" h="778256">
                  <a:moveTo>
                    <a:pt x="0" y="50165"/>
                  </a:moveTo>
                  <a:cubicBezTo>
                    <a:pt x="0" y="22479"/>
                    <a:pt x="22479" y="0"/>
                    <a:pt x="50165" y="0"/>
                  </a:cubicBezTo>
                  <a:lnTo>
                    <a:pt x="3405251" y="0"/>
                  </a:lnTo>
                  <a:cubicBezTo>
                    <a:pt x="3432937" y="0"/>
                    <a:pt x="3455416" y="22479"/>
                    <a:pt x="3455416" y="50165"/>
                  </a:cubicBezTo>
                  <a:lnTo>
                    <a:pt x="3455416" y="728091"/>
                  </a:lnTo>
                  <a:cubicBezTo>
                    <a:pt x="3455416" y="755777"/>
                    <a:pt x="3432937" y="778256"/>
                    <a:pt x="3405251" y="778256"/>
                  </a:cubicBezTo>
                  <a:lnTo>
                    <a:pt x="50165" y="778256"/>
                  </a:lnTo>
                  <a:cubicBezTo>
                    <a:pt x="22479" y="778256"/>
                    <a:pt x="0" y="755777"/>
                    <a:pt x="0" y="72809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11" b="-36512"/>
              </a:stretch>
            </a:blipFill>
            <a:ln w="9526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274264" y="1822552"/>
            <a:ext cx="3107379" cy="427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INTELLIGENCE LAYER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744" y="2446734"/>
            <a:ext cx="11014920" cy="90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Player &amp; Venue Intelligence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79744" y="3814610"/>
            <a:ext cx="2968971" cy="1834906"/>
            <a:chOff x="0" y="0"/>
            <a:chExt cx="3958628" cy="2446541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3958590" cy="2446528"/>
            </a:xfrm>
            <a:custGeom>
              <a:avLst/>
              <a:gdLst/>
              <a:ahLst/>
              <a:cxnLst/>
              <a:rect l="l" t="t" r="r" b="b"/>
              <a:pathLst>
                <a:path w="3958590" h="2446528">
                  <a:moveTo>
                    <a:pt x="0" y="0"/>
                  </a:moveTo>
                  <a:lnTo>
                    <a:pt x="3958590" y="0"/>
                  </a:lnTo>
                  <a:lnTo>
                    <a:pt x="3958590" y="2446528"/>
                  </a:lnTo>
                  <a:lnTo>
                    <a:pt x="0" y="2446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5" b="-4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79744" y="6025601"/>
            <a:ext cx="3506095" cy="44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Impactful Batters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744" y="6582223"/>
            <a:ext cx="5119087" cy="192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Strike rate, boundary percentage, and phase-wise scoring profiles identify players who consistently shift match momentum.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84452" y="3814610"/>
            <a:ext cx="2968971" cy="1834906"/>
            <a:chOff x="0" y="0"/>
            <a:chExt cx="3958628" cy="2446541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3958590" cy="2446528"/>
            </a:xfrm>
            <a:custGeom>
              <a:avLst/>
              <a:gdLst/>
              <a:ahLst/>
              <a:cxnLst/>
              <a:rect l="l" t="t" r="r" b="b"/>
              <a:pathLst>
                <a:path w="3958590" h="2446528">
                  <a:moveTo>
                    <a:pt x="0" y="0"/>
                  </a:moveTo>
                  <a:lnTo>
                    <a:pt x="3958590" y="0"/>
                  </a:lnTo>
                  <a:lnTo>
                    <a:pt x="3958590" y="2446528"/>
                  </a:lnTo>
                  <a:lnTo>
                    <a:pt x="0" y="2446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5" b="-4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584452" y="6025601"/>
            <a:ext cx="3506095" cy="44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Impactful Bowlers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84452" y="6582223"/>
            <a:ext cx="5119087" cy="146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Economy rate, wicket clusters, and death-over containment metrics reveal bowlers who genuinely defend totals.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89159" y="3814610"/>
            <a:ext cx="2968971" cy="1834906"/>
            <a:chOff x="0" y="0"/>
            <a:chExt cx="3958628" cy="2446541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3958590" cy="2446528"/>
            </a:xfrm>
            <a:custGeom>
              <a:avLst/>
              <a:gdLst/>
              <a:ahLst/>
              <a:cxnLst/>
              <a:rect l="l" t="t" r="r" b="b"/>
              <a:pathLst>
                <a:path w="3958590" h="2446528">
                  <a:moveTo>
                    <a:pt x="0" y="0"/>
                  </a:moveTo>
                  <a:lnTo>
                    <a:pt x="3958590" y="0"/>
                  </a:lnTo>
                  <a:lnTo>
                    <a:pt x="3958590" y="2446528"/>
                  </a:lnTo>
                  <a:lnTo>
                    <a:pt x="0" y="2446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5" b="-45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2089159" y="6025601"/>
            <a:ext cx="3506095" cy="44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Venue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89159" y="6582223"/>
            <a:ext cx="5119087" cy="192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Scoring behavior, average first-innings totals, and win-batting-first ratios are mapped per venue for strategic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28007" y="726434"/>
            <a:ext cx="1515666" cy="440979"/>
            <a:chOff x="0" y="0"/>
            <a:chExt cx="2020888" cy="5879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20951" cy="588010"/>
            </a:xfrm>
            <a:custGeom>
              <a:avLst/>
              <a:gdLst/>
              <a:ahLst/>
              <a:cxnLst/>
              <a:rect l="l" t="t" r="r" b="b"/>
              <a:pathLst>
                <a:path w="2020951" h="588010">
                  <a:moveTo>
                    <a:pt x="0" y="40259"/>
                  </a:moveTo>
                  <a:cubicBezTo>
                    <a:pt x="0" y="18034"/>
                    <a:pt x="18034" y="0"/>
                    <a:pt x="40259" y="0"/>
                  </a:cubicBezTo>
                  <a:lnTo>
                    <a:pt x="1980692" y="0"/>
                  </a:lnTo>
                  <a:cubicBezTo>
                    <a:pt x="2002917" y="0"/>
                    <a:pt x="2020951" y="18034"/>
                    <a:pt x="2020951" y="40259"/>
                  </a:cubicBezTo>
                  <a:lnTo>
                    <a:pt x="2020951" y="547751"/>
                  </a:lnTo>
                  <a:cubicBezTo>
                    <a:pt x="2020951" y="569976"/>
                    <a:pt x="2002917" y="588010"/>
                    <a:pt x="1980692" y="588010"/>
                  </a:cubicBezTo>
                  <a:lnTo>
                    <a:pt x="40259" y="588010"/>
                  </a:lnTo>
                  <a:cubicBezTo>
                    <a:pt x="18034" y="588010"/>
                    <a:pt x="0" y="569976"/>
                    <a:pt x="0" y="54775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69" r="3" b="-16963"/>
              </a:stretch>
            </a:blipFill>
            <a:ln w="9526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589780" y="795338"/>
            <a:ext cx="2106511" cy="28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PRODUCT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2770" y="1221877"/>
            <a:ext cx="12224299" cy="71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Interactive Dashboard &amp; Win Predictor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32770" y="3113637"/>
            <a:ext cx="9814617" cy="5561562"/>
            <a:chOff x="0" y="0"/>
            <a:chExt cx="13086156" cy="741541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3086207" cy="7415403"/>
            </a:xfrm>
            <a:custGeom>
              <a:avLst/>
              <a:gdLst/>
              <a:ahLst/>
              <a:cxnLst/>
              <a:rect l="l" t="t" r="r" b="b"/>
              <a:pathLst>
                <a:path w="13086207" h="7415403">
                  <a:moveTo>
                    <a:pt x="0" y="0"/>
                  </a:moveTo>
                  <a:lnTo>
                    <a:pt x="13086207" y="0"/>
                  </a:lnTo>
                  <a:lnTo>
                    <a:pt x="13086207" y="7415403"/>
                  </a:lnTo>
                  <a:lnTo>
                    <a:pt x="0" y="7415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9" b="-2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856691" y="2419502"/>
            <a:ext cx="4215851" cy="35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IPLytics Delivers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1948817" y="3006100"/>
            <a:ext cx="368798" cy="368798"/>
          </a:xfrm>
          <a:custGeom>
            <a:avLst/>
            <a:gdLst/>
            <a:ahLst/>
            <a:cxnLst/>
            <a:rect l="l" t="t" r="r" b="b"/>
            <a:pathLst>
              <a:path w="368798" h="368798">
                <a:moveTo>
                  <a:pt x="0" y="0"/>
                </a:moveTo>
                <a:lnTo>
                  <a:pt x="368799" y="0"/>
                </a:lnTo>
                <a:lnTo>
                  <a:pt x="368799" y="368798"/>
                </a:lnTo>
                <a:lnTo>
                  <a:pt x="0" y="368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974" r="-897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655744" y="2989069"/>
            <a:ext cx="3747792" cy="35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Comparison Engine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55744" y="3515020"/>
            <a:ext cx="4208859" cy="69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Head-to-head analytics across seasons, venues, and phases.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1948817" y="4605414"/>
            <a:ext cx="368798" cy="368798"/>
          </a:xfrm>
          <a:custGeom>
            <a:avLst/>
            <a:gdLst/>
            <a:ahLst/>
            <a:cxnLst/>
            <a:rect l="l" t="t" r="r" b="b"/>
            <a:pathLst>
              <a:path w="368798" h="368798">
                <a:moveTo>
                  <a:pt x="0" y="0"/>
                </a:moveTo>
                <a:lnTo>
                  <a:pt x="368799" y="0"/>
                </a:lnTo>
                <a:lnTo>
                  <a:pt x="368799" y="368798"/>
                </a:lnTo>
                <a:lnTo>
                  <a:pt x="0" y="368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974" r="-897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655744" y="4588373"/>
            <a:ext cx="3677688" cy="35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Interactive Visualizations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55744" y="5114325"/>
            <a:ext cx="4208859" cy="69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Plotly-powered charts with drill-down capability for granular exploration.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1948817" y="6204718"/>
            <a:ext cx="368798" cy="368798"/>
          </a:xfrm>
          <a:custGeom>
            <a:avLst/>
            <a:gdLst/>
            <a:ahLst/>
            <a:cxnLst/>
            <a:rect l="l" t="t" r="r" b="b"/>
            <a:pathLst>
              <a:path w="368798" h="368798">
                <a:moveTo>
                  <a:pt x="0" y="0"/>
                </a:moveTo>
                <a:lnTo>
                  <a:pt x="368799" y="0"/>
                </a:lnTo>
                <a:lnTo>
                  <a:pt x="368799" y="368799"/>
                </a:lnTo>
                <a:lnTo>
                  <a:pt x="0" y="368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974" r="-8972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655744" y="6187678"/>
            <a:ext cx="3032369" cy="35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Match Win Predictor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55744" y="6713639"/>
            <a:ext cx="4208859" cy="102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probability scoring based on phase performance and historical patterns.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11948817" y="8135322"/>
            <a:ext cx="368798" cy="368798"/>
          </a:xfrm>
          <a:custGeom>
            <a:avLst/>
            <a:gdLst/>
            <a:ahLst/>
            <a:cxnLst/>
            <a:rect l="l" t="t" r="r" b="b"/>
            <a:pathLst>
              <a:path w="368798" h="368798">
                <a:moveTo>
                  <a:pt x="0" y="0"/>
                </a:moveTo>
                <a:lnTo>
                  <a:pt x="368799" y="0"/>
                </a:lnTo>
                <a:lnTo>
                  <a:pt x="368799" y="368798"/>
                </a:lnTo>
                <a:lnTo>
                  <a:pt x="0" y="368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974" r="-8972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655744" y="8118281"/>
            <a:ext cx="2793949" cy="35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Analytics Tabs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55744" y="8644233"/>
            <a:ext cx="4208859" cy="69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Dedicated sections for toss analysis, venue behavior, and player intelligence.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5" name="Freeform 5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55764" y="737892"/>
            <a:ext cx="2481262" cy="440979"/>
            <a:chOff x="0" y="0"/>
            <a:chExt cx="3308350" cy="5879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08350" cy="588010"/>
            </a:xfrm>
            <a:custGeom>
              <a:avLst/>
              <a:gdLst/>
              <a:ahLst/>
              <a:cxnLst/>
              <a:rect l="l" t="t" r="r" b="b"/>
              <a:pathLst>
                <a:path w="3308350" h="588010">
                  <a:moveTo>
                    <a:pt x="0" y="40259"/>
                  </a:moveTo>
                  <a:cubicBezTo>
                    <a:pt x="0" y="18034"/>
                    <a:pt x="18034" y="0"/>
                    <a:pt x="40259" y="0"/>
                  </a:cubicBezTo>
                  <a:lnTo>
                    <a:pt x="3268091" y="0"/>
                  </a:lnTo>
                  <a:cubicBezTo>
                    <a:pt x="3290316" y="0"/>
                    <a:pt x="3308350" y="18034"/>
                    <a:pt x="3308350" y="40259"/>
                  </a:cubicBezTo>
                  <a:lnTo>
                    <a:pt x="3308350" y="547751"/>
                  </a:lnTo>
                  <a:cubicBezTo>
                    <a:pt x="3308350" y="569976"/>
                    <a:pt x="3290316" y="588010"/>
                    <a:pt x="3268091" y="588010"/>
                  </a:cubicBezTo>
                  <a:lnTo>
                    <a:pt x="40259" y="588010"/>
                  </a:lnTo>
                  <a:cubicBezTo>
                    <a:pt x="18034" y="588010"/>
                    <a:pt x="0" y="569976"/>
                    <a:pt x="0" y="547751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9632" b="-59626"/>
              </a:stretch>
            </a:blipFill>
            <a:ln w="9526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017537" y="806796"/>
            <a:ext cx="3072108" cy="28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STRATEGIC CONCLUSIONS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0527" y="1233335"/>
            <a:ext cx="9259786" cy="71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the Data Actually Says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46239" y="2230336"/>
            <a:ext cx="9737531" cy="1706613"/>
            <a:chOff x="0" y="0"/>
            <a:chExt cx="12983375" cy="22754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83464" cy="2275586"/>
            </a:xfrm>
            <a:custGeom>
              <a:avLst/>
              <a:gdLst/>
              <a:ahLst/>
              <a:cxnLst/>
              <a:rect l="l" t="t" r="r" b="b"/>
              <a:pathLst>
                <a:path w="12983464" h="2275586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2797410" y="0"/>
                  </a:lnTo>
                  <a:cubicBezTo>
                    <a:pt x="12900152" y="0"/>
                    <a:pt x="12983464" y="83312"/>
                    <a:pt x="12983464" y="186055"/>
                  </a:cubicBezTo>
                  <a:lnTo>
                    <a:pt x="12983464" y="2089531"/>
                  </a:lnTo>
                  <a:cubicBezTo>
                    <a:pt x="12983464" y="2192274"/>
                    <a:pt x="12900152" y="2275586"/>
                    <a:pt x="12797410" y="2275586"/>
                  </a:cubicBezTo>
                  <a:lnTo>
                    <a:pt x="186055" y="2275586"/>
                  </a:lnTo>
                  <a:cubicBezTo>
                    <a:pt x="83312" y="2275459"/>
                    <a:pt x="0" y="2192274"/>
                    <a:pt x="0" y="2089531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31952" y="2244623"/>
            <a:ext cx="114300" cy="1678038"/>
            <a:chOff x="0" y="0"/>
            <a:chExt cx="152400" cy="22373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2400" cy="2237359"/>
            </a:xfrm>
            <a:custGeom>
              <a:avLst/>
              <a:gdLst/>
              <a:ahLst/>
              <a:cxnLst/>
              <a:rect l="l" t="t" r="r" b="b"/>
              <a:pathLst>
                <a:path w="152400" h="2237359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3251" y="0"/>
                  </a:lnTo>
                  <a:cubicBezTo>
                    <a:pt x="130429" y="0"/>
                    <a:pt x="152400" y="21971"/>
                    <a:pt x="152400" y="49149"/>
                  </a:cubicBezTo>
                  <a:lnTo>
                    <a:pt x="152400" y="2188210"/>
                  </a:lnTo>
                  <a:cubicBezTo>
                    <a:pt x="152400" y="2215388"/>
                    <a:pt x="130429" y="2237359"/>
                    <a:pt x="103251" y="2237359"/>
                  </a:cubicBezTo>
                  <a:lnTo>
                    <a:pt x="49149" y="2237359"/>
                  </a:lnTo>
                  <a:cubicBezTo>
                    <a:pt x="21971" y="2237359"/>
                    <a:pt x="0" y="2215388"/>
                    <a:pt x="0" y="2188210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220686" y="2509542"/>
            <a:ext cx="2793949" cy="35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Toss Is Overrated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0686" y="2957065"/>
            <a:ext cx="9074344" cy="69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Winning the toss provides negligible competitive advantage. Execution and momentum dominate outcomes.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46239" y="4104227"/>
            <a:ext cx="9737531" cy="1706613"/>
            <a:chOff x="0" y="0"/>
            <a:chExt cx="12983375" cy="22754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83464" cy="2275586"/>
            </a:xfrm>
            <a:custGeom>
              <a:avLst/>
              <a:gdLst/>
              <a:ahLst/>
              <a:cxnLst/>
              <a:rect l="l" t="t" r="r" b="b"/>
              <a:pathLst>
                <a:path w="12983464" h="2275586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2797410" y="0"/>
                  </a:lnTo>
                  <a:cubicBezTo>
                    <a:pt x="12900152" y="0"/>
                    <a:pt x="12983464" y="83312"/>
                    <a:pt x="12983464" y="186055"/>
                  </a:cubicBezTo>
                  <a:lnTo>
                    <a:pt x="12983464" y="2089531"/>
                  </a:lnTo>
                  <a:cubicBezTo>
                    <a:pt x="12983464" y="2192274"/>
                    <a:pt x="12900152" y="2275586"/>
                    <a:pt x="12797410" y="2275586"/>
                  </a:cubicBezTo>
                  <a:lnTo>
                    <a:pt x="186055" y="2275586"/>
                  </a:lnTo>
                  <a:cubicBezTo>
                    <a:pt x="83312" y="2275459"/>
                    <a:pt x="0" y="2192274"/>
                    <a:pt x="0" y="2089531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31952" y="4118524"/>
            <a:ext cx="114300" cy="1678038"/>
            <a:chOff x="0" y="0"/>
            <a:chExt cx="152400" cy="22373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400" cy="2237359"/>
            </a:xfrm>
            <a:custGeom>
              <a:avLst/>
              <a:gdLst/>
              <a:ahLst/>
              <a:cxnLst/>
              <a:rect l="l" t="t" r="r" b="b"/>
              <a:pathLst>
                <a:path w="152400" h="2237359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3251" y="0"/>
                  </a:lnTo>
                  <a:cubicBezTo>
                    <a:pt x="130429" y="0"/>
                    <a:pt x="152400" y="21971"/>
                    <a:pt x="152400" y="49149"/>
                  </a:cubicBezTo>
                  <a:lnTo>
                    <a:pt x="152400" y="2188210"/>
                  </a:lnTo>
                  <a:cubicBezTo>
                    <a:pt x="152400" y="2215388"/>
                    <a:pt x="130429" y="2237359"/>
                    <a:pt x="103251" y="2237359"/>
                  </a:cubicBezTo>
                  <a:lnTo>
                    <a:pt x="49149" y="2237359"/>
                  </a:lnTo>
                  <a:cubicBezTo>
                    <a:pt x="21971" y="2237359"/>
                    <a:pt x="0" y="2215388"/>
                    <a:pt x="0" y="2188210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20686" y="4383434"/>
            <a:ext cx="4081910" cy="35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Sustained Momentum Wins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0686" y="4830966"/>
            <a:ext cx="9074344" cy="69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Consistent phase-wise performance — particularly across middle and death overs — is the true match-winner.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46239" y="5978128"/>
            <a:ext cx="9737531" cy="1706613"/>
            <a:chOff x="0" y="0"/>
            <a:chExt cx="12983375" cy="227548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983464" cy="2275586"/>
            </a:xfrm>
            <a:custGeom>
              <a:avLst/>
              <a:gdLst/>
              <a:ahLst/>
              <a:cxnLst/>
              <a:rect l="l" t="t" r="r" b="b"/>
              <a:pathLst>
                <a:path w="12983464" h="2275586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2797410" y="0"/>
                  </a:lnTo>
                  <a:cubicBezTo>
                    <a:pt x="12900152" y="0"/>
                    <a:pt x="12983464" y="83312"/>
                    <a:pt x="12983464" y="186055"/>
                  </a:cubicBezTo>
                  <a:lnTo>
                    <a:pt x="12983464" y="2089531"/>
                  </a:lnTo>
                  <a:cubicBezTo>
                    <a:pt x="12983464" y="2192274"/>
                    <a:pt x="12900152" y="2275586"/>
                    <a:pt x="12797410" y="2275586"/>
                  </a:cubicBezTo>
                  <a:lnTo>
                    <a:pt x="186055" y="2275586"/>
                  </a:lnTo>
                  <a:cubicBezTo>
                    <a:pt x="83312" y="2275459"/>
                    <a:pt x="0" y="2192274"/>
                    <a:pt x="0" y="2089531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31952" y="5992416"/>
            <a:ext cx="114300" cy="1678038"/>
            <a:chOff x="0" y="0"/>
            <a:chExt cx="152400" cy="223738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2400" cy="2237359"/>
            </a:xfrm>
            <a:custGeom>
              <a:avLst/>
              <a:gdLst/>
              <a:ahLst/>
              <a:cxnLst/>
              <a:rect l="l" t="t" r="r" b="b"/>
              <a:pathLst>
                <a:path w="152400" h="2237359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3251" y="0"/>
                  </a:lnTo>
                  <a:cubicBezTo>
                    <a:pt x="130429" y="0"/>
                    <a:pt x="152400" y="21971"/>
                    <a:pt x="152400" y="49149"/>
                  </a:cubicBezTo>
                  <a:lnTo>
                    <a:pt x="152400" y="2188210"/>
                  </a:lnTo>
                  <a:cubicBezTo>
                    <a:pt x="152400" y="2215388"/>
                    <a:pt x="130429" y="2237359"/>
                    <a:pt x="103251" y="2237359"/>
                  </a:cubicBezTo>
                  <a:lnTo>
                    <a:pt x="49149" y="2237359"/>
                  </a:lnTo>
                  <a:cubicBezTo>
                    <a:pt x="21971" y="2237359"/>
                    <a:pt x="0" y="2215388"/>
                    <a:pt x="0" y="2188210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220686" y="6257325"/>
            <a:ext cx="5042887" cy="35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Death-Over Acceleration Is Critical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0686" y="6704857"/>
            <a:ext cx="9074344" cy="69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Teams that maximize boundary percentage in overs 16–20 win the majority of close contests.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46239" y="7852019"/>
            <a:ext cx="9737531" cy="1706613"/>
            <a:chOff x="0" y="0"/>
            <a:chExt cx="12983375" cy="22754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983464" cy="2275586"/>
            </a:xfrm>
            <a:custGeom>
              <a:avLst/>
              <a:gdLst/>
              <a:ahLst/>
              <a:cxnLst/>
              <a:rect l="l" t="t" r="r" b="b"/>
              <a:pathLst>
                <a:path w="12983464" h="2275586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12797410" y="0"/>
                  </a:lnTo>
                  <a:cubicBezTo>
                    <a:pt x="12900152" y="0"/>
                    <a:pt x="12983464" y="83312"/>
                    <a:pt x="12983464" y="186055"/>
                  </a:cubicBezTo>
                  <a:lnTo>
                    <a:pt x="12983464" y="2089531"/>
                  </a:lnTo>
                  <a:cubicBezTo>
                    <a:pt x="12983464" y="2192274"/>
                    <a:pt x="12900152" y="2275586"/>
                    <a:pt x="12797410" y="2275586"/>
                  </a:cubicBezTo>
                  <a:lnTo>
                    <a:pt x="186055" y="2275586"/>
                  </a:lnTo>
                  <a:cubicBezTo>
                    <a:pt x="83312" y="2275459"/>
                    <a:pt x="0" y="2192274"/>
                    <a:pt x="0" y="2089531"/>
                  </a:cubicBezTo>
                  <a:close/>
                </a:path>
              </a:pathLst>
            </a:custGeom>
            <a:solidFill>
              <a:srgbClr val="FFFFFF"/>
            </a:solidFill>
            <a:ln w="28576" cap="sq">
              <a:solidFill>
                <a:srgbClr val="D8D4D4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31952" y="7866307"/>
            <a:ext cx="114300" cy="1678038"/>
            <a:chOff x="0" y="0"/>
            <a:chExt cx="152400" cy="223738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2400" cy="2237359"/>
            </a:xfrm>
            <a:custGeom>
              <a:avLst/>
              <a:gdLst/>
              <a:ahLst/>
              <a:cxnLst/>
              <a:rect l="l" t="t" r="r" b="b"/>
              <a:pathLst>
                <a:path w="152400" h="2237359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3251" y="0"/>
                  </a:lnTo>
                  <a:cubicBezTo>
                    <a:pt x="130429" y="0"/>
                    <a:pt x="152400" y="21971"/>
                    <a:pt x="152400" y="49149"/>
                  </a:cubicBezTo>
                  <a:lnTo>
                    <a:pt x="152400" y="2188210"/>
                  </a:lnTo>
                  <a:cubicBezTo>
                    <a:pt x="152400" y="2215388"/>
                    <a:pt x="130429" y="2237359"/>
                    <a:pt x="103251" y="2237359"/>
                  </a:cubicBezTo>
                  <a:lnTo>
                    <a:pt x="49149" y="2237359"/>
                  </a:lnTo>
                  <a:cubicBezTo>
                    <a:pt x="21971" y="2237359"/>
                    <a:pt x="0" y="2215388"/>
                    <a:pt x="0" y="2188210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220686" y="8131226"/>
            <a:ext cx="4099474" cy="35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Data-Driven Strategy Works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0686" y="8578748"/>
            <a:ext cx="9074344" cy="69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Organizations leveraging phase analytics and venue intelligence make measurably better tactical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486320" y="637137"/>
            <a:ext cx="1238850" cy="370284"/>
            <a:chOff x="0" y="0"/>
            <a:chExt cx="1651800" cy="4937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51762" cy="493650"/>
            </a:xfrm>
            <a:custGeom>
              <a:avLst/>
              <a:gdLst/>
              <a:ahLst/>
              <a:cxnLst/>
              <a:rect l="l" t="t" r="r" b="b"/>
              <a:pathLst>
                <a:path w="1651762" h="493650">
                  <a:moveTo>
                    <a:pt x="0" y="34798"/>
                  </a:moveTo>
                  <a:cubicBezTo>
                    <a:pt x="0" y="15621"/>
                    <a:pt x="15621" y="0"/>
                    <a:pt x="34798" y="0"/>
                  </a:cubicBezTo>
                  <a:lnTo>
                    <a:pt x="1616964" y="0"/>
                  </a:lnTo>
                  <a:cubicBezTo>
                    <a:pt x="1636141" y="0"/>
                    <a:pt x="1651762" y="15621"/>
                    <a:pt x="1651762" y="34798"/>
                  </a:cubicBezTo>
                  <a:lnTo>
                    <a:pt x="1651762" y="458851"/>
                  </a:lnTo>
                  <a:cubicBezTo>
                    <a:pt x="1651762" y="478028"/>
                    <a:pt x="1636141" y="493649"/>
                    <a:pt x="1616964" y="493649"/>
                  </a:cubicBezTo>
                  <a:lnTo>
                    <a:pt x="34798" y="493649"/>
                  </a:lnTo>
                  <a:cubicBezTo>
                    <a:pt x="15621" y="493776"/>
                    <a:pt x="0" y="478155"/>
                    <a:pt x="0" y="45885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92" r="-2" b="-15205"/>
              </a:stretch>
            </a:blipFill>
            <a:ln w="9526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627862" y="714966"/>
            <a:ext cx="1870177" cy="21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300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WHAT'S NEXT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91083" y="1041797"/>
            <a:ext cx="7554811" cy="62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 &amp; 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91083" y="2018109"/>
            <a:ext cx="3324816" cy="31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Roadmap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491083" y="2493016"/>
            <a:ext cx="424158" cy="265062"/>
            <a:chOff x="0" y="0"/>
            <a:chExt cx="565544" cy="3534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5547" cy="353416"/>
            </a:xfrm>
            <a:custGeom>
              <a:avLst/>
              <a:gdLst/>
              <a:ahLst/>
              <a:cxnLst/>
              <a:rect l="l" t="t" r="r" b="b"/>
              <a:pathLst>
                <a:path w="565547" h="353416">
                  <a:moveTo>
                    <a:pt x="0" y="0"/>
                  </a:moveTo>
                  <a:lnTo>
                    <a:pt x="565547" y="0"/>
                  </a:lnTo>
                  <a:lnTo>
                    <a:pt x="565547" y="353416"/>
                  </a:lnTo>
                  <a:lnTo>
                    <a:pt x="0" y="353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r="-30177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65544" cy="3534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D3838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91083" y="2824905"/>
            <a:ext cx="6394104" cy="28575"/>
            <a:chOff x="0" y="0"/>
            <a:chExt cx="8525472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25510" cy="38100"/>
            </a:xfrm>
            <a:custGeom>
              <a:avLst/>
              <a:gdLst/>
              <a:ahLst/>
              <a:cxnLst/>
              <a:rect l="l" t="t" r="r" b="b"/>
              <a:pathLst>
                <a:path w="8525510" h="38100">
                  <a:moveTo>
                    <a:pt x="0" y="0"/>
                  </a:moveTo>
                  <a:lnTo>
                    <a:pt x="8525510" y="0"/>
                  </a:lnTo>
                  <a:lnTo>
                    <a:pt x="85255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2491083" y="2978496"/>
            <a:ext cx="2410416" cy="31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IPL Analytics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91083" y="3425581"/>
            <a:ext cx="6394104" cy="54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data ingestion for in-match phase tracking and live win probability.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491083" y="4276430"/>
            <a:ext cx="424158" cy="265062"/>
            <a:chOff x="0" y="0"/>
            <a:chExt cx="565544" cy="3534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5547" cy="353416"/>
            </a:xfrm>
            <a:custGeom>
              <a:avLst/>
              <a:gdLst/>
              <a:ahLst/>
              <a:cxnLst/>
              <a:rect l="l" t="t" r="r" b="b"/>
              <a:pathLst>
                <a:path w="565547" h="353416">
                  <a:moveTo>
                    <a:pt x="0" y="0"/>
                  </a:moveTo>
                  <a:lnTo>
                    <a:pt x="565547" y="0"/>
                  </a:lnTo>
                  <a:lnTo>
                    <a:pt x="565547" y="353416"/>
                  </a:lnTo>
                  <a:lnTo>
                    <a:pt x="0" y="353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r="-3017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65544" cy="3534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D3838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491083" y="4608309"/>
            <a:ext cx="6394104" cy="28575"/>
            <a:chOff x="0" y="0"/>
            <a:chExt cx="8525472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25510" cy="38100"/>
            </a:xfrm>
            <a:custGeom>
              <a:avLst/>
              <a:gdLst/>
              <a:ahLst/>
              <a:cxnLst/>
              <a:rect l="l" t="t" r="r" b="b"/>
              <a:pathLst>
                <a:path w="8525510" h="38100">
                  <a:moveTo>
                    <a:pt x="0" y="0"/>
                  </a:moveTo>
                  <a:lnTo>
                    <a:pt x="8525510" y="0"/>
                  </a:lnTo>
                  <a:lnTo>
                    <a:pt x="85255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2491083" y="4761909"/>
            <a:ext cx="2629643" cy="31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ML-Based Prediction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91083" y="5208984"/>
            <a:ext cx="6394104" cy="54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Supervised learning models to forecast match outcomes with higher accuracy.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491083" y="6059834"/>
            <a:ext cx="424158" cy="265062"/>
            <a:chOff x="0" y="0"/>
            <a:chExt cx="565544" cy="3534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5547" cy="353416"/>
            </a:xfrm>
            <a:custGeom>
              <a:avLst/>
              <a:gdLst/>
              <a:ahLst/>
              <a:cxnLst/>
              <a:rect l="l" t="t" r="r" b="b"/>
              <a:pathLst>
                <a:path w="565547" h="353416">
                  <a:moveTo>
                    <a:pt x="0" y="0"/>
                  </a:moveTo>
                  <a:lnTo>
                    <a:pt x="565547" y="0"/>
                  </a:lnTo>
                  <a:lnTo>
                    <a:pt x="565547" y="353416"/>
                  </a:lnTo>
                  <a:lnTo>
                    <a:pt x="0" y="353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r="-3017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565544" cy="3534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D3838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491083" y="6391723"/>
            <a:ext cx="6394104" cy="28575"/>
            <a:chOff x="0" y="0"/>
            <a:chExt cx="8525472" cy="381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525510" cy="38100"/>
            </a:xfrm>
            <a:custGeom>
              <a:avLst/>
              <a:gdLst/>
              <a:ahLst/>
              <a:cxnLst/>
              <a:rect l="l" t="t" r="r" b="b"/>
              <a:pathLst>
                <a:path w="8525510" h="38100">
                  <a:moveTo>
                    <a:pt x="0" y="0"/>
                  </a:moveTo>
                  <a:lnTo>
                    <a:pt x="8525510" y="0"/>
                  </a:lnTo>
                  <a:lnTo>
                    <a:pt x="85255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2491083" y="6545313"/>
            <a:ext cx="3037580" cy="31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Fantasy Cricket Insights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91083" y="6992388"/>
            <a:ext cx="6394104" cy="54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Player form indices and matchup analytics for fantasy league optimization.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491083" y="7843237"/>
            <a:ext cx="424158" cy="265062"/>
            <a:chOff x="0" y="0"/>
            <a:chExt cx="565544" cy="3534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65547" cy="353416"/>
            </a:xfrm>
            <a:custGeom>
              <a:avLst/>
              <a:gdLst/>
              <a:ahLst/>
              <a:cxnLst/>
              <a:rect l="l" t="t" r="r" b="b"/>
              <a:pathLst>
                <a:path w="565547" h="353416">
                  <a:moveTo>
                    <a:pt x="0" y="0"/>
                  </a:moveTo>
                  <a:lnTo>
                    <a:pt x="565547" y="0"/>
                  </a:lnTo>
                  <a:lnTo>
                    <a:pt x="565547" y="353416"/>
                  </a:lnTo>
                  <a:lnTo>
                    <a:pt x="0" y="353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8" r="-3017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565544" cy="3534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D3838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04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491083" y="8175127"/>
            <a:ext cx="6394104" cy="28575"/>
            <a:chOff x="0" y="0"/>
            <a:chExt cx="8525472" cy="381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525510" cy="38100"/>
            </a:xfrm>
            <a:custGeom>
              <a:avLst/>
              <a:gdLst/>
              <a:ahLst/>
              <a:cxnLst/>
              <a:rect l="l" t="t" r="r" b="b"/>
              <a:pathLst>
                <a:path w="8525510" h="38100">
                  <a:moveTo>
                    <a:pt x="0" y="0"/>
                  </a:moveTo>
                  <a:lnTo>
                    <a:pt x="8525510" y="0"/>
                  </a:lnTo>
                  <a:lnTo>
                    <a:pt x="85255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2491083" y="8328717"/>
            <a:ext cx="2558806" cy="31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Auction Intelligence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91083" y="8775802"/>
            <a:ext cx="6394104" cy="54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Value modeling and player performance prediction for IPL auction strategy.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259338" y="1881930"/>
            <a:ext cx="6699494" cy="7763027"/>
            <a:chOff x="0" y="0"/>
            <a:chExt cx="8932659" cy="1035070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932673" cy="10350627"/>
            </a:xfrm>
            <a:custGeom>
              <a:avLst/>
              <a:gdLst/>
              <a:ahLst/>
              <a:cxnLst/>
              <a:rect l="l" t="t" r="r" b="b"/>
              <a:pathLst>
                <a:path w="8932673" h="10350627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8890254" y="0"/>
                  </a:lnTo>
                  <a:cubicBezTo>
                    <a:pt x="8913749" y="0"/>
                    <a:pt x="8932673" y="19050"/>
                    <a:pt x="8932673" y="42418"/>
                  </a:cubicBezTo>
                  <a:lnTo>
                    <a:pt x="8932673" y="10308209"/>
                  </a:lnTo>
                  <a:cubicBezTo>
                    <a:pt x="8932673" y="10331703"/>
                    <a:pt x="8913623" y="10350627"/>
                    <a:pt x="8890254" y="10350627"/>
                  </a:cubicBezTo>
                  <a:lnTo>
                    <a:pt x="42418" y="10350627"/>
                  </a:lnTo>
                  <a:cubicBezTo>
                    <a:pt x="18923" y="10350627"/>
                    <a:pt x="0" y="10331577"/>
                    <a:pt x="0" y="10308209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9471422" y="2018109"/>
            <a:ext cx="3324816" cy="31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71422" y="2465184"/>
            <a:ext cx="6275337" cy="54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IPLytics transforms raw IPL data into </a:t>
            </a:r>
            <a:r>
              <a:rPr lang="en-US" sz="16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actionable cricket intelligence</a:t>
            </a: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empowering teams, analysts, and fans to see the game differently.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471422" y="3228384"/>
            <a:ext cx="6275337" cy="15773"/>
            <a:chOff x="0" y="0"/>
            <a:chExt cx="8367116" cy="2103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367141" cy="21082"/>
            </a:xfrm>
            <a:custGeom>
              <a:avLst/>
              <a:gdLst/>
              <a:ahLst/>
              <a:cxnLst/>
              <a:rect l="l" t="t" r="r" b="b"/>
              <a:pathLst>
                <a:path w="8367141" h="21082">
                  <a:moveTo>
                    <a:pt x="0" y="0"/>
                  </a:moveTo>
                  <a:lnTo>
                    <a:pt x="8367141" y="0"/>
                  </a:lnTo>
                  <a:lnTo>
                    <a:pt x="8367141" y="21082"/>
                  </a:lnTo>
                  <a:lnTo>
                    <a:pt x="0" y="21082"/>
                  </a:ln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9471422" y="3451622"/>
            <a:ext cx="6275337" cy="67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Stack:</a:t>
            </a: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Python · Pandas · Plotly · Streamlit</a:t>
            </a:r>
          </a:p>
          <a:p>
            <a:pPr algn="l">
              <a:lnSpc>
                <a:spcPts val="2016"/>
              </a:lnSpc>
            </a:pPr>
            <a:r>
              <a:rPr lang="en-US" sz="16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Dataset:</a:t>
            </a: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IPL Matches &amp; Deliveries (2008–Present)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Microsoft Office PowerPoint</Application>
  <PresentationFormat>Custom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Source Sans 3</vt:lpstr>
      <vt:lpstr>Arial</vt:lpstr>
      <vt:lpstr>Montserrat Bold</vt:lpstr>
      <vt:lpstr>Calibri</vt:lpstr>
      <vt:lpstr>Source Sans 3 Bold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Decoding-Match-Winning-Patterns-in-IPL-Using-Data-Science.pptx</dc:title>
  <dc:creator>G SAI VENKAT</dc:creator>
  <cp:lastModifiedBy>G SAI VENKAT</cp:lastModifiedBy>
  <cp:revision>1</cp:revision>
  <dcterms:created xsi:type="dcterms:W3CDTF">2006-08-16T00:00:00Z</dcterms:created>
  <dcterms:modified xsi:type="dcterms:W3CDTF">2026-05-23T08:03:43Z</dcterms:modified>
  <dc:identifier>DAHKd_s36Io</dc:identifier>
</cp:coreProperties>
</file>